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B82F6"/>
                </a:solidFill>
              </a:defRPr>
            </a:pPr>
            <a:r>
              <a:t>TRANSFORMAI</a:t>
            </a:r>
          </a:p>
          <a:p>
            <a:pPr>
              <a:defRPr b="1" sz="4000">
                <a:solidFill>
                  <a:srgbClr val="F8FAFC"/>
                </a:solidFill>
              </a:defRPr>
            </a:pPr>
            <a:r>
              <a:t>Intelligent Multi-Artefact Content Transformation Engine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One source memo, report, or whiteboard → seven finished deliverables in under 60 seconds.</a:t>
            </a:r>
          </a:p>
          <a:p>
            <a:pPr>
              <a:defRPr sz="1500">
                <a:solidFill>
                  <a:srgbClr val="10B981"/>
                </a:solidFill>
              </a:defRPr>
            </a:pPr>
            <a:r>
              <a:t>Powered by NVIDIA NIM Microservices (Llama 3.2 11B Vision) &amp; Edge Distributed Compute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01 // ARCHITECTURAL SPLIT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Solving Workflow Friction with "The Honest Split"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EF4444"/>
                </a:solidFill>
              </a:defRPr>
            </a:pPr>
            <a:r>
              <a:t>The Manual Bottleneck (45-90 Mins)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Fragmented unstructured inputs: voice notes, whiteboards, security advisories, incident post-mortems.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Chained prompts cause prompt drift and factual hallucinations across outputs.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Manual slide creation, Word brief formatting, and social post re-typing eats executive hours.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9377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The TransformAI Solution (&lt;60s)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Edge Client Layer: Local Web Speech STT, Tesseract WASM, and multi-doc parser on phone/browser.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Headless Compute Engine: FastAPI + NVIDIA NIM (meta/llama-3.2-11b-vision-instruct).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• Parallel Generation: 7 formats rendered concurrently from a single ground-truth object.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02 // DATA CONTRACT &amp; FIDELITY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Intent Context Object (ICO) &amp; Provenance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9184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B82F6"/>
                </a:solidFill>
              </a:defRPr>
            </a:pPr>
            <a:r>
              <a:t>01 // Structured Schema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Extracts entities, metrics, timelines, owners, and primary objectives into a validated Pydantic contract before format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29184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B82F6"/>
                </a:solidFill>
              </a:defRPr>
            </a:pPr>
            <a:r>
              <a:t>02 // Zero Prompt Drift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All 7 output generators query the immutable ICO. No cascade degradation, no hallucination drift between slides, briefs, and advisories.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103120"/>
            <a:ext cx="3291840" cy="3931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3B82F6"/>
                </a:solidFill>
              </a:defRPr>
            </a:pPr>
            <a:r>
              <a:t>03 // Provenance Citations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Every generated claim links to an exact source quote [1], [2]. Operators can audit claims instantly in the Studio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03 // MULTI-ARTEFACT OUTPUT MATRIX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Seven Purpose-Built Deliverables from One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3291840" cy="1783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Executive Briefing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Concise overview, audit citations, and 4-tier action matrix.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Format: Word (.docx) &amp;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291840" cy="1783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Presentation Deck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16:9 widescreen slides with bullet hierarchy &amp; speaker notes.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Format: PowerPoint (.pptx)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103120"/>
            <a:ext cx="3291840" cy="1783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Complete Video Package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Scene-by-scene storyboard, camera cues, and teleprompter script.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Format: Subtitles (.vtt)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3291840" cy="1783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Structured Advisory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Enterprise threat &amp; incident advisory with P1/P2/P3 remediation matrix.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Format: DOCX &amp; Markdown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14800"/>
            <a:ext cx="3291840" cy="1783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Infographic Blueprint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Visual wireframe, hero metric callouts, and chart specifications.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Format: Figma / Canva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114800"/>
            <a:ext cx="3291840" cy="1783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Social Assets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LinkedIn thought leadership post &amp; Twitter/X thread (&lt;280 chars).</a:t>
            </a:r>
          </a:p>
          <a:p>
            <a:pPr>
              <a:defRPr sz="1000">
                <a:solidFill>
                  <a:srgbClr val="3B82F6"/>
                </a:solidFill>
              </a:defRPr>
            </a:pPr>
            <a:r>
              <a:t>Format: One-Click 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04 // BENCHMARKS &amp; TECHNOLOGY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Enterprise Benchmarks &amp; Technology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246888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200">
                <a:solidFill>
                  <a:srgbClr val="10B981"/>
                </a:solidFill>
              </a:defRPr>
            </a:pPr>
            <a:r>
              <a:t>&lt;48s</a:t>
            </a:r>
          </a:p>
          <a:p>
            <a:pPr>
              <a:defRPr b="1" sz="1500">
                <a:solidFill>
                  <a:srgbClr val="F8FAFC"/>
                </a:solidFill>
              </a:defRPr>
            </a:pPr>
            <a:r>
              <a:t>End-to-End Latency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Generates 7 deliverables simultaneously via asyncio parallel workers.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7872" y="2194560"/>
            <a:ext cx="246888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200">
                <a:solidFill>
                  <a:srgbClr val="10B981"/>
                </a:solidFill>
              </a:defRPr>
            </a:pPr>
            <a:r>
              <a:t>0.0%</a:t>
            </a:r>
          </a:p>
          <a:p>
            <a:pPr>
              <a:defRPr b="1" sz="1500">
                <a:solidFill>
                  <a:srgbClr val="F8FAFC"/>
                </a:solidFill>
              </a:defRPr>
            </a:pPr>
            <a:r>
              <a:t>Hallucination Drift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Strict grounding to immutable Intent Context Object (ICO).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2194560"/>
            <a:ext cx="246888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200">
                <a:solidFill>
                  <a:srgbClr val="10B981"/>
                </a:solidFill>
              </a:defRPr>
            </a:pPr>
            <a:r>
              <a:t>100ms</a:t>
            </a:r>
          </a:p>
          <a:p>
            <a:pPr>
              <a:defRPr b="1" sz="1500">
                <a:solidFill>
                  <a:srgbClr val="F8FAFC"/>
                </a:solidFill>
              </a:defRPr>
            </a:pPr>
            <a:r>
              <a:t>Doc Ingestion Time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Instant parsing of PDF, Word (.docx), and text intelligence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14816" y="2194560"/>
            <a:ext cx="246888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200">
                <a:solidFill>
                  <a:srgbClr val="10B981"/>
                </a:solidFill>
              </a:defRPr>
            </a:pPr>
            <a:r>
              <a:t>NVIDIA NIM</a:t>
            </a:r>
          </a:p>
          <a:p>
            <a:pPr>
              <a:defRPr b="1" sz="1500">
                <a:solidFill>
                  <a:srgbClr val="F8FAFC"/>
                </a:solidFill>
              </a:defRPr>
            </a:pPr>
            <a:r>
              <a:t>TensorRT-LLM Core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Powered by meta/llama-3.2-11b-vision-instruct with Ollama fallback.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